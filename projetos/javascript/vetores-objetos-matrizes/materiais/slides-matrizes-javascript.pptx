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PROGRAMAÇÃO — ENGENHARIA DE SOFTWARE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</a:t>
            </a:r>
            <a:pPr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JavaScript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bidimensionais — a lógica por trás de planilhas, tabuleiros e imagens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3566160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29968" y="3566160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25496" y="3566160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58768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507992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157216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4440" y="3858768"/>
            <a:ext cx="713232" cy="566928"/>
          </a:xfrm>
          <a:prstGeom prst="roundRect">
            <a:avLst>
              <a:gd name="adj" fmla="val 9677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85876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029968" y="3858768"/>
            <a:ext cx="713232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385876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825496" y="3858768"/>
            <a:ext cx="713232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5496" y="385876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234440" y="4507992"/>
            <a:ext cx="713232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507992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029968" y="4507992"/>
            <a:ext cx="713232" cy="566928"/>
          </a:xfrm>
          <a:prstGeom prst="roundRect">
            <a:avLst>
              <a:gd name="adj" fmla="val 9677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4507992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825496" y="4507992"/>
            <a:ext cx="713232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25496" y="4507992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234440" y="5157216"/>
            <a:ext cx="713232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5157216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029968" y="5157216"/>
            <a:ext cx="713232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9968" y="5157216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825496" y="5157216"/>
            <a:ext cx="713232" cy="566928"/>
          </a:xfrm>
          <a:prstGeom prst="roundRect">
            <a:avLst>
              <a:gd name="adj" fmla="val 9677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25496" y="5157216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31520" y="61081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Daniel Facciolo Pires  •  2º Semestre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ver hoje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45389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matrizes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221992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1671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uma matriz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vetores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5935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de matrizes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30682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Sintaxe: declaração, leitura, processamento e saída de dados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02005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 com matrizes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5788152"/>
            <a:ext cx="457200" cy="45720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788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57332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matriz?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matriz é uma estrutura de dados bidimensional: organiza valores em linhas e colunas, como uma tabela.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é localizado por dois índices: um para a linha e outro para a coluna.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É, na prática, um vetor de vetores: o vetor externo guarda linhas, e cada linha é um vetor de valores.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 representar qualquer dado que tenha naturalmente duas dimensões: uma tabela, um tabuleiro, uma imagem.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52360" y="21031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66176" y="21031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395728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3044952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3694176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52360" y="2395728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239572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66176" y="2395728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39572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52360" y="3044952"/>
            <a:ext cx="731520" cy="566928"/>
          </a:xfrm>
          <a:prstGeom prst="roundRect">
            <a:avLst>
              <a:gd name="adj" fmla="val 9677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304495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66176" y="3044952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304495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52360" y="3694176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69417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66176" y="3694176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6176" y="369417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494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1, coluna 0  →  notas[1][0]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Linhas, colunas e índices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65960" y="1691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90088" y="1691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429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752344"/>
            <a:ext cx="429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3520440"/>
            <a:ext cx="429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984248"/>
            <a:ext cx="914400" cy="658368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9842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990088" y="1984248"/>
            <a:ext cx="914400" cy="658368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9842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965960" y="2752344"/>
            <a:ext cx="914400" cy="658368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75234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990088" y="2752344"/>
            <a:ext cx="914400" cy="658368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0088" y="275234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965960" y="352044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5204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990088" y="352044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0088" y="35204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436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matriz[2][1] = 8.5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6560" y="173736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índice (i) percorre as linhas, de cima para baixo.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segundo índice (j) percorre as colunas, da esquerda para a direita.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matriz com 3 linhas e 2 colunas é dita "3 por 2" (3 x 2).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matriz[i][j] acessa o valor da linha i, coluna j.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como vetor de vetores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JavaScript não tem um tipo "matriz" nativo: uma matriz é, por baixo dos panos, um vetor cujos elementos também são vetores.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vetor externo (notas) tem 3 posições — uma para cada linha.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posição guarda um vetor interno, com os valores daquela linha.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365760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365760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[7.5, 8.0]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19456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65760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65760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[6.0, 7.0]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365760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65760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[9.0, 8.5]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3291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× Matriz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 (1 dimensão)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72768" y="196596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196596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72768" y="263347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05456" y="196596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96596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505456" y="263347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38144" y="196596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196596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438144" y="263347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5544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 (2 dimensões)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83296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97112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258568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907792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2258568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25856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083296" y="2258568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83296" y="225856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897112" y="2258568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97112" y="225856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269480" y="2907792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290779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083296" y="2907792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3296" y="290779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897112" y="2907792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97112" y="290779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48640" y="397764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Vetor: um único índice localiza o elemento — vetor[i].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Matriz: dois índices localizam o elemento — matriz[i][j].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representa uma lista; matriz representa uma tabela.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um vetor exige um laço; percorrer uma matriz exige dois laços aninhados (um para linha, outro para coluna).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de matrizes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Tabuleiro de jogo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xadrez, jogo da velha, batalha naval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7040880" y="16916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notas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210312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(linhas) x bimestres (colunas)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520" dirty="0"/>
          </a:p>
        </p:txBody>
      </p:sp>
      <p:sp>
        <p:nvSpPr>
          <p:cNvPr id="16" name="Text 14"/>
          <p:cNvSpPr/>
          <p:nvPr/>
        </p:nvSpPr>
        <p:spPr>
          <a:xfrm>
            <a:off x="1417320" y="31089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digital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5204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posição guarda a cor de um pixel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3246120"/>
            <a:ext cx="640080" cy="64008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520" dirty="0"/>
          </a:p>
        </p:txBody>
      </p:sp>
      <p:sp>
        <p:nvSpPr>
          <p:cNvPr id="20" name="Text 18"/>
          <p:cNvSpPr/>
          <p:nvPr/>
        </p:nvSpPr>
        <p:spPr>
          <a:xfrm>
            <a:off x="7040880" y="31089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040880" y="35204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de sensores em uma grade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640080" cy="64008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520" dirty="0"/>
          </a:p>
        </p:txBody>
      </p:sp>
      <p:sp>
        <p:nvSpPr>
          <p:cNvPr id="24" name="Text 22"/>
          <p:cNvSpPr/>
          <p:nvPr/>
        </p:nvSpPr>
        <p:spPr>
          <a:xfrm>
            <a:off x="1417320" y="45262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coordenadas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17320" y="49377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mapas, GPS, jogos 2D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72200" y="4663440"/>
            <a:ext cx="640080" cy="6400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520" dirty="0"/>
          </a:p>
        </p:txBody>
      </p:sp>
      <p:sp>
        <p:nvSpPr>
          <p:cNvPr id="28" name="Text 26"/>
          <p:cNvSpPr/>
          <p:nvPr/>
        </p:nvSpPr>
        <p:spPr>
          <a:xfrm>
            <a:off x="7040880" y="452628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Tabuada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40880" y="49377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multiplicação entre dois números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de matrizes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2239518"/>
          </a:xfrm>
          <a:prstGeom prst="roundRect">
            <a:avLst>
              <a:gd name="adj" fmla="val 326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126480" cy="178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notas = [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matriz literal é um vetor de vetores: colchetes dentro de colchetes.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interna é separada por vírgula.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valores em cada linha define o número de colunas.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vazia e preenchimento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675120" cy="3133344"/>
          </a:xfrm>
          <a:prstGeom prst="roundRect">
            <a:avLst>
              <a:gd name="adj" fmla="val 233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66751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tabuada.js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400800" cy="267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tabuada = [];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tabuada[i] = [];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tabuada[i][j] = (i +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(j +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52360" y="173736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começa vazia: [].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externo (i) cria cada linha como um vetor vazio.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(j) preenche essa linha, coluna por coluna.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um elemento — matriz[i][j]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035040" cy="1345692"/>
          </a:xfrm>
          <a:prstGeom prst="roundRect">
            <a:avLst>
              <a:gd name="adj" fmla="val 54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60350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5760720" cy="88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console.log(notas[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console.log(notas[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0" y="17830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colchete escolhe a linha.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segundo colchete escolhe a coluna dentro dessa linha.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notas[1][0]: linha 1, coluna 0 → 6.0.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40233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51176" y="40233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4315968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965192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5614416"/>
            <a:ext cx="429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91640" y="431596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431596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551176" y="431596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431596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691640" y="4965192"/>
            <a:ext cx="77724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496519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551176" y="4965192"/>
            <a:ext cx="77724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496519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691640" y="5614416"/>
            <a:ext cx="77724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1640" y="561441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2551176" y="5614416"/>
            <a:ext cx="77724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561441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Percorrendo: leitura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675120" cy="2239518"/>
          </a:xfrm>
          <a:prstGeom prst="roundRect">
            <a:avLst>
              <a:gd name="adj" fmla="val 326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66751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400800" cy="178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notas[i].length;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console.log(notas[i][j]);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52360" y="173736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notas.length dá o número de linhas.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notas[i].length dá o número de colunas da linha i.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percorre uma linha inteira antes de passar para a próxima.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Percorrendo: escrita com valores calculados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217920" cy="3133344"/>
          </a:xfrm>
          <a:prstGeom prst="roundRect">
            <a:avLst>
              <a:gd name="adj" fmla="val 233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62179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54480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preencher.js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5943600" cy="267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matriz = [];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matriz[i] = [];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matriz[i][j] = i *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j;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95160" y="16916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de cada posição depende dos próprios índices i e j.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padrão é comum: gerar uma matriz a partir de uma fórmula.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65760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49640" y="365760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81160" y="365760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3950208"/>
            <a:ext cx="429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4553712"/>
            <a:ext cx="429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5157216"/>
            <a:ext cx="429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18120" y="395020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950208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549640" y="395020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3950208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281160" y="3950208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3950208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818120" y="455371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4553712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549640" y="455371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4553712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281160" y="455371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0" y="4553712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818120" y="515721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5157216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549640" y="515721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5157216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9281160" y="515721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81160" y="5157216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de dados formatada por linha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0" cy="2835402"/>
          </a:xfrm>
          <a:prstGeom prst="roundRect">
            <a:avLst>
              <a:gd name="adj" fmla="val 258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imprimir.js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7040880" cy="2378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linha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notas[i].length;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linha = linha + notas[i][j] +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console.log(linha);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string linha é montada com os valores da linha atual, separados por espaços.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console.log(linha) só é chamado depois que a linha inteira foi montada — uma linha impressa por vez.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TÓPICO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4015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 dois laços aninhados — um para percorrer linhas, outro para colunas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4340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total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606040" y="4343400"/>
            <a:ext cx="3099816" cy="47548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4343400"/>
            <a:ext cx="3099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por linha/coluna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888736" y="4343400"/>
            <a:ext cx="1819656" cy="47548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8736" y="4343400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Maior/Menor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891272" y="4343400"/>
            <a:ext cx="1051560" cy="47548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1272" y="434340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4946904"/>
            <a:ext cx="2715768" cy="47548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946904"/>
            <a:ext cx="2715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principal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630168" y="4946904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4946904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Transposta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504688" y="4946904"/>
            <a:ext cx="2459736" cy="47548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4946904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de matrizes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de todos os elementos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537960" cy="2835402"/>
          </a:xfrm>
          <a:prstGeom prst="roundRect">
            <a:avLst>
              <a:gd name="adj" fmla="val 258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65379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soma_total.js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263640" cy="2378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notas[i].length;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= soma + notas[i][j];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acumulador soma começa em zero, fora dos laços.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visitado pelos dois laços é somado ao acumulador.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soma contém o total de todos os elementos da matriz.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por linha e por coluna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por linha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94960" cy="2502408"/>
          </a:xfrm>
          <a:prstGeom prst="roundRect">
            <a:avLst>
              <a:gd name="adj" fmla="val 29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8308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soma_linha.js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240280"/>
            <a:ext cx="5120640" cy="204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somaLinhas = [];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somaLinhas[i]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notas[i].length; j++)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somaLinhas[i] = somaLinhas[i] + notas[i][j];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2200" y="141732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por coluna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394960" cy="2283333"/>
          </a:xfrm>
          <a:prstGeom prst="roundRect">
            <a:avLst>
              <a:gd name="adj" fmla="val 32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83080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0528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711696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78308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soma_coluna.js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240280"/>
            <a:ext cx="5120640" cy="182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somaColunas = 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notas[i].length; j++)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somaColunas[j] = somaColunas[j] + notas[i][j];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por linha: um acumulador para cada linha, reiniciado a cada nova linha.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por coluna: um acumulador para cada coluna, que recebe valores de todas as linhas.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e menor elemento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675120" cy="4623054"/>
          </a:xfrm>
          <a:prstGeom prst="roundRect">
            <a:avLst>
              <a:gd name="adj" fmla="val 15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66751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020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maior_menor.js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400800" cy="4165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maior = notas[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menor = notas[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notas[i].length;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(notas[i][j] &gt; maior)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maior = notas[i][j];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(notas[i][j] &lt; menor)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menor = notas[i][j];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52360" y="173736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e menor começam com o primeiro elemento da matriz (posição [0][0]).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laços comparam cada elemento seguinte com os valores atuais.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um elemento (linha e coluna)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903720" cy="4623054"/>
          </a:xfrm>
          <a:prstGeom prst="roundRect">
            <a:avLst>
              <a:gd name="adj" fmla="val 15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69037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7276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57276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57276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63040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6629400" cy="4165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alvo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linhaAlvo = -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colunaAlvo = -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notas[i].length;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(notas[i][j] === alvo)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linhaAlvo = i;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colunaAlvo = j;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busca;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9520" y="1600200"/>
            <a:ext cx="4069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é um rótulo (label) no laço externo.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busca; interrompe os dois laços de uma vez, assim que o valor é encontrado.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rótulo, um break comum encerraria apenas o laço interno.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principal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583680" cy="3729228"/>
          </a:xfrm>
          <a:prstGeom prst="roundRect">
            <a:avLst>
              <a:gd name="adj" fmla="val 19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658368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54480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quadrada.js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6309360" cy="327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quadrada = [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somaDiagonal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somaDiagonal += quadrada[i][i];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16916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diagonal principal só existe em matrizes quadradas (mesmo número de linhas e colunas).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Nela, o índice da linha é sempre igual ao da coluna: quadrada[i][i].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35240" y="3840480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3840480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302752" y="3840480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3840480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970264" y="3840480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3840480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635240" y="4407408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4407408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302752" y="4407408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4407408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970264" y="4407408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0264" y="4407408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635240" y="4974336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974336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302752" y="4974336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4974336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970264" y="4974336"/>
            <a:ext cx="603504" cy="502920"/>
          </a:xfrm>
          <a:prstGeom prst="roundRect">
            <a:avLst>
              <a:gd name="adj" fmla="val 10909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70264" y="4974336"/>
            <a:ext cx="603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Transposta de uma matriz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675120" cy="3133344"/>
          </a:xfrm>
          <a:prstGeom prst="roundRect">
            <a:avLst>
              <a:gd name="adj" fmla="val 233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66751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2704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5270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52704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1732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transposta.js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6400800" cy="267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transposta = [];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transposta[i] = [];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transposta[i][j] = quadrada[j][i];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60920" y="160020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transposta troca linhas por colunas: o elemento [i][j] vira [j][i].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diagonal principal não se altera na transposição.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6878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63040" y="4934712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493471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048256" y="4934712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8256" y="493471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633472" y="4934712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BC8C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493471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463040" y="5428488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542848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048256" y="5428488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542848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633472" y="5428488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542848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463040" y="5922264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592226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2048256" y="5922264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8256" y="592226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2633472" y="5922264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592226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035040" y="46878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transposta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4934712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93471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620256" y="4934712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493471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7205472" y="4934712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05472" y="493471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035040" y="5428488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542848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620256" y="5428488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542848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205472" y="5428488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05472" y="542848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6035040" y="5922264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BC8C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592226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6620256" y="5922264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0256" y="592226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7205472" y="5922264"/>
            <a:ext cx="530352" cy="438912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5922264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CLÁSSICAS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de duas matrizes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675120" cy="3729228"/>
          </a:xfrm>
          <a:prstGeom prst="roundRect">
            <a:avLst>
              <a:gd name="adj" fmla="val 19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66751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5448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soma_matrizes.js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6400800" cy="327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[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= [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[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 = [];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soma[i] = [];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j++) {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soma[i][j] = a[i][j] + b[i][j];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60920" y="169164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é possível somar matrizes de mesma dimensão (mesmo número de linhas e colunas).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posição do resultado é a soma das posições correspondentes: soma[i][j] = a[i][j] + b[i][j].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boas práticas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matriz é um vetor de vetores: dois índices, [i] para a linha e [j] para a coluna.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operação clássica de vetor tem uma versão com dois laços aninhados em matrizes.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notas.length dá o número de linhas; notas[i].length dá o número de colunas da linha i.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diagonal principal (quadrada[i][i]) e a transposta (trocar [i][j] por [j][i]) só existem com clareza em matrizes quadradas.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rótulo (label) antes de um laço, como busca:, permite usar break para sair de dois laços aninhados de uma vez.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 (1/2)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2" dirty="0"/>
          </a:p>
        </p:txBody>
      </p:sp>
      <p:sp>
        <p:nvSpPr>
          <p:cNvPr id="8" name="Text 6"/>
          <p:cNvSpPr/>
          <p:nvPr/>
        </p:nvSpPr>
        <p:spPr>
          <a:xfrm>
            <a:off x="1417320" y="158191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uma matriz 4x4 preenchida com zeros e exiba-a usando dois laços aninhados.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70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2" dirty="0"/>
          </a:p>
        </p:txBody>
      </p:sp>
      <p:sp>
        <p:nvSpPr>
          <p:cNvPr id="11" name="Text 9"/>
          <p:cNvSpPr/>
          <p:nvPr/>
        </p:nvSpPr>
        <p:spPr>
          <a:xfrm>
            <a:off x="1417320" y="2660904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matriz de temperaturas com 3 cidades (linhas) e 5 dias (colunas) e calcule a média de cada cidade.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2" dirty="0"/>
          </a:p>
        </p:txBody>
      </p:sp>
      <p:sp>
        <p:nvSpPr>
          <p:cNvPr id="14" name="Text 12"/>
          <p:cNvSpPr/>
          <p:nvPr/>
        </p:nvSpPr>
        <p:spPr>
          <a:xfrm>
            <a:off x="1417320" y="3739896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 a maior temperatura registrada e informe em que cidade e em que dia ela ocorreu.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28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2" dirty="0"/>
          </a:p>
        </p:txBody>
      </p:sp>
      <p:sp>
        <p:nvSpPr>
          <p:cNvPr id="17" name="Text 15"/>
          <p:cNvSpPr/>
          <p:nvPr/>
        </p:nvSpPr>
        <p:spPr>
          <a:xfrm>
            <a:off x="1417320" y="4818888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uma matriz quadrada é uma matriz identidade (1 na diagonal principal, 0 nas demais posições).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 (2/2)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72" dirty="0"/>
          </a:p>
        </p:txBody>
      </p:sp>
      <p:sp>
        <p:nvSpPr>
          <p:cNvPr id="8" name="Text 6"/>
          <p:cNvSpPr/>
          <p:nvPr/>
        </p:nvSpPr>
        <p:spPr>
          <a:xfrm>
            <a:off x="1417320" y="158191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soma dos elementos da diagonal secundária (matriz[i][n - 1 - i]).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70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72" dirty="0"/>
          </a:p>
        </p:txBody>
      </p:sp>
      <p:sp>
        <p:nvSpPr>
          <p:cNvPr id="11" name="Text 9"/>
          <p:cNvSpPr/>
          <p:nvPr/>
        </p:nvSpPr>
        <p:spPr>
          <a:xfrm>
            <a:off x="1417320" y="2660904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a transposta de uma matriz não quadrada (por exemplo, 2 linhas x 3 colunas).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72" dirty="0"/>
          </a:p>
        </p:txBody>
      </p:sp>
      <p:sp>
        <p:nvSpPr>
          <p:cNvPr id="14" name="Text 12"/>
          <p:cNvSpPr/>
          <p:nvPr/>
        </p:nvSpPr>
        <p:spPr>
          <a:xfrm>
            <a:off x="1417320" y="3739896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duas matrizes de mesma dimensão e exiba o resultado formatado, uma linha por vez.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28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72" dirty="0"/>
          </a:p>
        </p:txBody>
      </p:sp>
      <p:sp>
        <p:nvSpPr>
          <p:cNvPr id="17" name="Text 15"/>
          <p:cNvSpPr/>
          <p:nvPr/>
        </p:nvSpPr>
        <p:spPr>
          <a:xfrm>
            <a:off x="1417320" y="4818888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monte uma matriz 5x5 onde cada posição vale matriz[i][j] = i + j, e exiba o resultado.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em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GRONER, Loiane; KINOSHITA, Lucia A. Estruturas de Dados e Algoritmos em JavaScript. São Paulo: Novatec, 2019.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SEBESTA, R. W. Conceitos de Linguagens de Programação. 5ª ed. Bookman, 2003.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IEPSEN, Edecio Fernando. Lógica de Programação e Algoritmos com JavaScript. São Paulo: Novatec, 2019.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MORRISON, Michael. Use a Cabeça JavaScript. Alta Books, 2012.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SILVA, Mauricio Samy. jQuery: a biblioteca do programador JavaScript. São Paulo: Novatec, 2010.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Docs. Guia de JavaScript. developer.mozilla.org/pt-BR/docs/Web/JavaScript/Guide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2026-08-24T22:33:35Z</dcterms:created>
  <dcterms:modified xsi:type="dcterms:W3CDTF">2026-08-24T22:33:35Z</dcterms:modified>
</cp:coreProperties>
</file>