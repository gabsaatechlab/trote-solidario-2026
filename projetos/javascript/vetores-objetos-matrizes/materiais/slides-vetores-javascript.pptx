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415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PROGRAMAÇÃO — ENGENHARIA DE SOFTWARE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</a:t>
            </a:r>
            <a:r>
              <a:rPr lang="en-US" sz="5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JavaScript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Conceitos, fundamentos e aplicações práticas — implementadas apenas com laços e índices, sem métodos prontos do ES5/6+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479145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28216" y="397764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728216" y="39776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28216" y="479145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24912" y="397764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F7DF1E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724912" y="39776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724912" y="479145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21608" y="397764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721608" y="39776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721608" y="479145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18304" y="397764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18304" y="39776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18304" y="4791456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59152" y="5148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vetor[2]  →  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1081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Daniel Facciolo Pires  •  2º Semestre  •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ver hoje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88" dirty="0"/>
          </a:p>
        </p:txBody>
      </p:sp>
      <p:sp>
        <p:nvSpPr>
          <p:cNvPr id="8" name="Text 6"/>
          <p:cNvSpPr/>
          <p:nvPr/>
        </p:nvSpPr>
        <p:spPr>
          <a:xfrm>
            <a:off x="1463040" y="1481328"/>
            <a:ext cx="9784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vetor e como ele é organizado na memória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23408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88" dirty="0"/>
          </a:p>
        </p:txBody>
      </p:sp>
      <p:sp>
        <p:nvSpPr>
          <p:cNvPr id="11" name="Text 9"/>
          <p:cNvSpPr/>
          <p:nvPr/>
        </p:nvSpPr>
        <p:spPr>
          <a:xfrm>
            <a:off x="1463040" y="2267712"/>
            <a:ext cx="9784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declarar vetores em JavaScript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127248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312724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88" dirty="0"/>
          </a:p>
        </p:txBody>
      </p:sp>
      <p:sp>
        <p:nvSpPr>
          <p:cNvPr id="14" name="Text 12"/>
          <p:cNvSpPr/>
          <p:nvPr/>
        </p:nvSpPr>
        <p:spPr>
          <a:xfrm>
            <a:off x="1463040" y="3054096"/>
            <a:ext cx="9784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percorrer um vetor para leitura e para escrita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88" dirty="0"/>
          </a:p>
        </p:txBody>
      </p:sp>
      <p:sp>
        <p:nvSpPr>
          <p:cNvPr id="17" name="Text 15"/>
          <p:cNvSpPr/>
          <p:nvPr/>
        </p:nvSpPr>
        <p:spPr>
          <a:xfrm>
            <a:off x="1463040" y="3840480"/>
            <a:ext cx="9784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do uso de vetores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700016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47000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88" dirty="0"/>
          </a:p>
        </p:txBody>
      </p:sp>
      <p:sp>
        <p:nvSpPr>
          <p:cNvPr id="20" name="Text 18"/>
          <p:cNvSpPr/>
          <p:nvPr/>
        </p:nvSpPr>
        <p:spPr>
          <a:xfrm>
            <a:off x="1463040" y="4626864"/>
            <a:ext cx="9784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tradicionais: soma, média, busca, máximo/mínimo, contagem, inversão, inserção, remoção e ordenação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88" dirty="0"/>
          </a:p>
        </p:txBody>
      </p:sp>
      <p:sp>
        <p:nvSpPr>
          <p:cNvPr id="23" name="Text 21"/>
          <p:cNvSpPr/>
          <p:nvPr/>
        </p:nvSpPr>
        <p:spPr>
          <a:xfrm>
            <a:off x="1463040" y="5413248"/>
            <a:ext cx="9784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propostos para fixação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vetor?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vetor (array) é uma estrutura de dados linear que armazena uma coleção de elementos sob um único nome.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elementos são organizados em posições sequenciais e acessados por um índice numérico.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indexação em JavaScript começa em zero (0-based): o primeiro elemento está na posição 0.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elementos podem ser percorridos com um laço de repetição (for, while).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246888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58000" y="246888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313639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90688" y="246888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90688" y="246888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90688" y="313639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23376" y="246888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723376" y="246888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23376" y="313639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6064" y="246888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656064" y="246888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56064" y="313639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88752" y="246888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588752" y="246888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88752" y="313639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33832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38862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do vetor:  notas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 vetores?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vetor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03520" cy="2327148"/>
          </a:xfrm>
          <a:prstGeom prst="roundRect">
            <a:avLst>
              <a:gd name="adj" fmla="val 3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30352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85800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86968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088136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8640" y="178308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sem_vetor.js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240280"/>
            <a:ext cx="5029200" cy="186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nota1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nota2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nota3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nota4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cada novo aluno,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uma variável nova...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1417320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vetor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303520" cy="2064258"/>
          </a:xfrm>
          <a:prstGeom prst="roundRect">
            <a:avLst>
              <a:gd name="adj" fmla="val 35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0352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00800" y="18928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601968" y="18928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803136" y="18928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263640" y="178308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com_vetor.js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240280"/>
            <a:ext cx="5029200" cy="160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notas = 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notas.length;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console.log(notas[i]);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4384548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dados relacionados sob um único nome.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a repetição de variáveis independentes.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percorrer todos os valores com um único laço.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tamanho flexível: crescer conforme a necessidade.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na memória e a propriedade length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4963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21408" y="182880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121408" y="182880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21408" y="24963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54096" y="182880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054096" y="182880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54096" y="24963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86784" y="182880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986784" y="182880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86784" y="24963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19472" y="182880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919472" y="182880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19472" y="24963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16552" y="2880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índice = length - 1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3566160"/>
            <a:ext cx="8595360" cy="1801368"/>
          </a:xfrm>
          <a:prstGeom prst="roundRect">
            <a:avLst>
              <a:gd name="adj" fmla="val 40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1188720" y="3566160"/>
            <a:ext cx="859536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325880" y="367588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527048" y="367588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728216" y="367588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188720" y="356616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propriedade_length.js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4023360"/>
            <a:ext cx="83210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notas = 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console.log(notas.length);            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console.log(notas[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                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(primeiro)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console.log(notas[notas.length -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 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 (último)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Declarando vetores em JavaScript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2852928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declaracao.js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12648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forma mais usada: vetor literal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notas = 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vetor vazio, para preencher depois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numeros = [];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vetor com tamanho pré-definido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valores =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Array(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434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literal: forma direta com colchetes [ ].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vazio: começa sem elementos e é preenchido em um laço.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Array(n): reserva n posições, todas undefined.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posição pode guardar qualquer tipo de valor.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PERCORRENDO VETORES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um vetor com for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1538478"/>
          </a:xfrm>
          <a:prstGeom prst="roundRect">
            <a:avLst>
              <a:gd name="adj" fmla="val 47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leitura.js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12648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notas.length;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console.log(notas[i]);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começa em 0 e vai até length - 1.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 i &lt; notas.length evita acessar posição inexistente.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notas[i] lê o valor armazenado na posição i.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341299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188720" y="341299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08051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21408" y="341299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121408" y="341299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21408" y="408051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54096" y="341299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54096" y="341299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54096" y="408051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86784" y="341299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986784" y="341299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86784" y="408051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19472" y="341299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919472" y="341299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19472" y="408051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446455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2  →  lendo notas[2] = 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PERCORRENDO VETORES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 / preenchimento com for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1801368"/>
          </a:xfrm>
          <a:prstGeom prst="roundRect">
            <a:avLst>
              <a:gd name="adj" fmla="val 40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escrita.js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1264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quadrados = [];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quadrados[i] = i * i;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volta do laço, uma nova posição é criada e recebe um valor.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quadrados[i] = i * i atribui (escreve) o valor calculado na posição i.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vetor cresce dinamicamente conforme o laço avança.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367588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188720" y="367588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34340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21408" y="367588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121408" y="367588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21408" y="434340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54096" y="367588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54096" y="367588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54096" y="434340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86784" y="367588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986784" y="367588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86784" y="434340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19472" y="367588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919472" y="367588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19472" y="434340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47274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quadrados[3] = 3 * 3 = 9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de vetores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709928"/>
            <a:ext cx="658368" cy="65836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9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592" dirty="0"/>
          </a:p>
        </p:txBody>
      </p:sp>
      <p:sp>
        <p:nvSpPr>
          <p:cNvPr id="8" name="Text 6"/>
          <p:cNvSpPr/>
          <p:nvPr/>
        </p:nvSpPr>
        <p:spPr>
          <a:xfrm>
            <a:off x="1463040" y="1572768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alunos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escolar por disciplina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709928"/>
            <a:ext cx="658368" cy="658368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172200" y="17099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9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</a:t>
            </a:r>
            <a:endParaRPr lang="en-US" sz="2592" dirty="0"/>
          </a:p>
        </p:txBody>
      </p:sp>
      <p:sp>
        <p:nvSpPr>
          <p:cNvPr id="12" name="Text 10"/>
          <p:cNvSpPr/>
          <p:nvPr/>
        </p:nvSpPr>
        <p:spPr>
          <a:xfrm>
            <a:off x="7086600" y="1572768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Temperaturas diárias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20116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de uma estação meteorológica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658368" cy="658368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48640" y="31912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9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592" dirty="0"/>
          </a:p>
        </p:txBody>
      </p:sp>
      <p:sp>
        <p:nvSpPr>
          <p:cNvPr id="16" name="Text 14"/>
          <p:cNvSpPr/>
          <p:nvPr/>
        </p:nvSpPr>
        <p:spPr>
          <a:xfrm>
            <a:off x="1463040" y="3054096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produtos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49300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e quantidades de um sistema de vendas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191256"/>
            <a:ext cx="658368" cy="658368"/>
          </a:xfrm>
          <a:prstGeom prst="ellipse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172200" y="319125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9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592" dirty="0"/>
          </a:p>
        </p:txBody>
      </p:sp>
      <p:sp>
        <p:nvSpPr>
          <p:cNvPr id="20" name="Text 18"/>
          <p:cNvSpPr/>
          <p:nvPr/>
        </p:nvSpPr>
        <p:spPr>
          <a:xfrm>
            <a:off x="7086600" y="3054096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de uma imagem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349300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posição guarda a cor de um ponto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672584"/>
            <a:ext cx="658368" cy="658368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48640" y="46725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9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2592" dirty="0"/>
          </a:p>
        </p:txBody>
      </p:sp>
      <p:sp>
        <p:nvSpPr>
          <p:cNvPr id="24" name="Text 22"/>
          <p:cNvSpPr/>
          <p:nvPr/>
        </p:nvSpPr>
        <p:spPr>
          <a:xfrm>
            <a:off x="1463040" y="4535424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 bancário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497433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transações de uma conta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4672584"/>
            <a:ext cx="658368" cy="65836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172200" y="46725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9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2592" dirty="0"/>
          </a:p>
        </p:txBody>
      </p:sp>
      <p:sp>
        <p:nvSpPr>
          <p:cNvPr id="28" name="Text 26"/>
          <p:cNvSpPr/>
          <p:nvPr/>
        </p:nvSpPr>
        <p:spPr>
          <a:xfrm>
            <a:off x="7086600" y="4535424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(IoT)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86600" y="497433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sucessivas de um sensor conectado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 com vetores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015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Implementadas apenas com laços e índices — sem .push, .sort, .reverse, .map, .filter, .reduce ou similares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859536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73936" y="4343400"/>
            <a:ext cx="982980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773936" y="4343400"/>
            <a:ext cx="9829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39796" y="4343400"/>
            <a:ext cx="982980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939796" y="4343400"/>
            <a:ext cx="9829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05656" y="4343400"/>
            <a:ext cx="1229868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05656" y="4343400"/>
            <a:ext cx="12298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Máx/Mín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18404" y="4343400"/>
            <a:ext cx="1353312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518404" y="4343400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54596" y="4343400"/>
            <a:ext cx="1353312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054596" y="4343400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Inversão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90788" y="4343400"/>
            <a:ext cx="1353312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590788" y="4343400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126980" y="4343400"/>
            <a:ext cx="1229868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0126980" y="4343400"/>
            <a:ext cx="12298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910328"/>
            <a:ext cx="1476756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31520" y="4910328"/>
            <a:ext cx="14767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dos elementos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035040" cy="1801368"/>
          </a:xfrm>
          <a:prstGeom prst="roundRect">
            <a:avLst>
              <a:gd name="adj" fmla="val 40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03504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57607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notas.length;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= soma + notas[i];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17830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acumulador (soma) começa em zero, antes do laço.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volta, o valor atual é somado ao acumulador.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do laço, soma contém o total de todos os elementos.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434340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188720" y="434340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0109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21408" y="434340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121408" y="434340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21408" y="50109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54096" y="434340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54096" y="434340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54096" y="50109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86784" y="434340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986784" y="434340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86784" y="50109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19472" y="4343400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919472" y="4343400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19472" y="501091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4343400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223760" y="434340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= 87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aritmética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035040" cy="2064258"/>
          </a:xfrm>
          <a:prstGeom prst="roundRect">
            <a:avLst>
              <a:gd name="adj" fmla="val 35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03504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5760720" cy="160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notas.length;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= soma + notas[i];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media = soma / notas.length;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17830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reaproveita a lógica de soma já vista.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laço, basta dividir o total pela quantidade de elementos (length).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dividir antes do laço terminar dá um resultado incorreto.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sequencial (linear search)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92240" cy="2852928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9224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2179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   let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vetor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= [10, 25, 7, 42, 3]</a:t>
            </a:r>
            <a:b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</a:b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   let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alvo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= 7 </a:t>
            </a: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vetor.length;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(vetor[i] === alvo)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178308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 o vetor posição por posição, comparando com o valor procurado.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encontrar, retorna o índice imediatamente.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chegar ao fim sem encontrar, retorna -1.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472744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8B949E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188720" y="472744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39496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21408" y="472744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8B949E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121408" y="472744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21408" y="539496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54096" y="472744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54096" y="472744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54096" y="539496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86784" y="472744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986784" y="472744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86784" y="539496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19472" y="472744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919472" y="472744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19472" y="539496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577900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encontrado</a:t>
            </a: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índice 2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e menor elemento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92240" cy="2327148"/>
          </a:xfrm>
          <a:prstGeom prst="roundRect">
            <a:avLst>
              <a:gd name="adj" fmla="val 3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9224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maior_menor.js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217920" cy="186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maior = vetor[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menor = vetor[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vetor.length;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(vetor[i] &gt; maior) { maior = vetor[i];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(vetor[i] &lt; menor) { menor = vetor[i];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178308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começam com o valor da posição 0 (não com zero).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compara cada elemento seguinte com os valores atuais.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final, maior e menor guardam os extremos do vetor.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420166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188720" y="420166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8691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21408" y="420166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121408" y="420166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21408" y="48691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54096" y="420166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F8514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54096" y="420166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54096" y="48691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86784" y="420166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986784" y="420166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86784" y="48691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19472" y="420166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919472" y="420166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19472" y="48691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525322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 = 42     menor = 7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ocorrências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92240" cy="2327148"/>
          </a:xfrm>
          <a:prstGeom prst="roundRect">
            <a:avLst>
              <a:gd name="adj" fmla="val 3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9224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contagem.js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217920" cy="186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contador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vetor.length;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(vetor[i] === valor)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 = contador +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178308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contador é incrementado sempre que o elemento comparado é igual ao valor procurado.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saber quantas vezes um valor se repete no vetor.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420166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F7DF1E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188720" y="420166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8691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21408" y="420166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121408" y="420166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21408" y="48691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54096" y="420166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F7DF1E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054096" y="420166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54096" y="48691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86784" y="420166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986784" y="420166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86784" y="48691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19472" y="4201668"/>
            <a:ext cx="841248" cy="621792"/>
          </a:xfrm>
          <a:prstGeom prst="roundRect">
            <a:avLst>
              <a:gd name="adj" fmla="val 8824"/>
            </a:avLst>
          </a:prstGeom>
          <a:solidFill>
            <a:srgbClr val="F7DF1E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919472" y="4201668"/>
            <a:ext cx="8412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19472" y="486918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525322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= 7  →  contador = 3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Inversão do vetor (swap de posições)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309360" cy="3115818"/>
          </a:xfrm>
          <a:prstGeom prst="roundRect">
            <a:avLst>
              <a:gd name="adj" fmla="val 23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630936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52704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52704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52704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inversao.js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874520"/>
            <a:ext cx="6035040" cy="265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inicio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fim = vetor.length -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(inicio &lt; fim)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 = vetor[inicio];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vetor[inicio] = vetor[fim];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vetor[fim] = temp;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inicio = inicio +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 = fim -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16002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ponteiros (inicio e fim) caminham um em direção ao outro.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passo, os elementos das duas pontas trocam de lugar (swap).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termina quando os ponteiros se cruzam.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67944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03120" y="4679442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103120" y="4679442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03120" y="525551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4679442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BC8CF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944368" y="4679442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944368" y="525551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85616" y="4679442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785616" y="4679442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85616" y="525551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26864" y="4679442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BC8CF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626864" y="4679442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26864" y="525551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68112" y="4679442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468112" y="4679442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68112" y="525551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65785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03120" y="5657850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2103120" y="5657850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944368" y="5657850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BC8CF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944368" y="5657850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785616" y="5657850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3785616" y="5657850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626864" y="5657850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BC8CF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626864" y="5657850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468112" y="5657850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58A6FF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468112" y="5657850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9402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de elemento em uma posição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720840" cy="2811780"/>
          </a:xfrm>
          <a:prstGeom prst="roundRect">
            <a:avLst>
              <a:gd name="adj" fmla="val 3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672084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52704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52704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52704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6720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874520"/>
            <a:ext cx="6446520" cy="186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let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vetor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= [10, 25, 7, 42] 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let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tamanho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=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vetor.length</a:t>
            </a:r>
            <a:endParaRPr lang="en-US" sz="1500" dirty="0">
              <a:solidFill>
                <a:srgbClr val="E6EDF3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let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posicao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= 2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let valor = 99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tamanho; i &gt; posicao; i--)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vetor[i] = vetor[i -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[posicao] = valor;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15544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inserir, é preciso abrir espaço deslocando os elementos posteriores uma posição à direita.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deslocamento é feito de trás para frente, para não sobrescrever valores.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deslocamento, o novo valor ocupa a posição desejada.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35711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03120" y="4357116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103120" y="4357116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03120" y="493318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4357116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944368" y="4357116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944368" y="493318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85616" y="4357116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785616" y="4357116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85616" y="493318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26864" y="4357116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626864" y="4357116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26864" y="493318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33552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03120" y="5335524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2103120" y="5335524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103120" y="591159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44368" y="5335524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2944368" y="5335524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944368" y="591159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785616" y="5335524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785616" y="5335524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785616" y="591159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26864" y="5335524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626864" y="5335524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626864" y="591159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68112" y="5335524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5468112" y="5335524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68112" y="591159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011680" y="6281928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elementos</a:t>
            </a: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partir do índice 2 deslocados uma posição à direita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elemento de uma posição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309360" cy="2640330"/>
          </a:xfrm>
          <a:prstGeom prst="roundRect">
            <a:avLst>
              <a:gd name="adj" fmla="val 35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30936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57276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57276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remover.js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6035040" cy="160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 let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vetor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= [10, 25, 42, 3]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 let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tamanho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=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vetor.length</a:t>
            </a:r>
            <a:endParaRPr lang="en-US" sz="1500" dirty="0">
              <a:solidFill>
                <a:srgbClr val="E6EDF3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 let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posicao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= 2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posicao; i &lt; tamanho -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vetor[i] = vetor[i +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16002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elementos posteriores à posição removida são deslocados uma posição à esquerda.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deslocamento é feito de frente para trás.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tamanho lógico do vetor deve ser controlado à parte (uma variável de tamanho).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320913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03120" y="4320913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103120" y="4320913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03120" y="4896985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44368" y="4320913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944368" y="4320913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944368" y="4896985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85616" y="4320913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F8514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785616" y="4320913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85616" y="4896985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26864" y="4320913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626864" y="4320913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26864" y="4896985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68112" y="4320913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468112" y="4320913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68112" y="4896985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299321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03120" y="5299321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2103120" y="5299321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103120" y="5875393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944368" y="5299321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2944368" y="5299321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944368" y="5875393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785616" y="5299321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3785616" y="5299321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785616" y="5875393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26864" y="5299321"/>
            <a:ext cx="749808" cy="530352"/>
          </a:xfrm>
          <a:prstGeom prst="roundRect">
            <a:avLst>
              <a:gd name="adj" fmla="val 10345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626864" y="5299321"/>
            <a:ext cx="7498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626864" y="5875393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103120" y="6195433"/>
            <a:ext cx="8961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elementos</a:t>
            </a:r>
            <a:r>
              <a:rPr lang="en-US" sz="125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após o índice 2 deslocados uma posição à esquerda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— Bubble Sort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92240" cy="3115818"/>
          </a:xfrm>
          <a:prstGeom prst="roundRect">
            <a:avLst>
              <a:gd name="adj" fmla="val 23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9224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bubble_sort.js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217920" cy="265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vetor.length -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j &lt; vetor.length -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i; j++)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(vetor[j] &gt; vetor[j +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temp = vetor[j];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vetor[j] = vetor[j +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vetor[j +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temp;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178308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pares de elementos vizinhos (vetor[j] e vetor[j+1]).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os dois quando estão fora de ordem.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passagem completa, o maior valor restante "borbulha" até o final.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as passagens até o vetor ficar totalmente ordenado.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TRADICIONAIS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— passo a passo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169164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468880" y="169164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82696" y="169164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282696" y="169164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96512" y="169164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096512" y="169164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10328" y="169164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10328" y="169164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24144" y="169164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724144" y="169164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5146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passo 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8880" y="251460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468880" y="251460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282696" y="251460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282696" y="251460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096512" y="251460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096512" y="251460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910328" y="251460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910328" y="251460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724144" y="251460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724144" y="251460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333756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passo 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468880" y="333756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2468880" y="333756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82696" y="333756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282696" y="333756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096512" y="333756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096512" y="333756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910328" y="333756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910328" y="333756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724144" y="333756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724144" y="333756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14400" y="41605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(ordenado)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468880" y="416052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2468880" y="416052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282696" y="416052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3282696" y="416052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096512" y="416052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096512" y="416052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910328" y="416052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4910328" y="416052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724144" y="4160520"/>
            <a:ext cx="731520" cy="566928"/>
          </a:xfrm>
          <a:prstGeom prst="roundRect">
            <a:avLst>
              <a:gd name="adj" fmla="val 9677"/>
            </a:avLst>
          </a:prstGeom>
          <a:solidFill>
            <a:srgbClr val="3FB95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5724144" y="416052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468880" y="5029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elemento já na posição final após a passagem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boas práticas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sempre for (let i = 0; i &lt; vetor.length; i++) como padrão seguro de percurso.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os limites: os índices válidos vão de 0 até length - 1.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Inicialize variáveis acumuladoras (soma, contador) antes do laço, nunca dentro dele.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inserir, desloque de trás para frente; ao remover, desloque de frente para trás.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 lógica com laços é a base para, mais adiante, usar com segurança os métodos prontos do JavaScript (map, filter, reduce, sort, etc.).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propostos (1/2)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2" dirty="0"/>
          </a:p>
        </p:txBody>
      </p:sp>
      <p:sp>
        <p:nvSpPr>
          <p:cNvPr id="8" name="Text 6"/>
          <p:cNvSpPr/>
          <p:nvPr/>
        </p:nvSpPr>
        <p:spPr>
          <a:xfrm>
            <a:off x="1417320" y="1581912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um programa que leia 10 números digitados pelo usuário, armazene em um vetor e depois exiba todos os valores.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2770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2" dirty="0"/>
          </a:p>
        </p:txBody>
      </p:sp>
      <p:sp>
        <p:nvSpPr>
          <p:cNvPr id="11" name="Text 9"/>
          <p:cNvSpPr/>
          <p:nvPr/>
        </p:nvSpPr>
        <p:spPr>
          <a:xfrm>
            <a:off x="1417320" y="2660904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 soma e a média de um vetor de notas, usando apenas laço e acumulador.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38496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2" dirty="0"/>
          </a:p>
        </p:txBody>
      </p:sp>
      <p:sp>
        <p:nvSpPr>
          <p:cNvPr id="14" name="Text 12"/>
          <p:cNvSpPr/>
          <p:nvPr/>
        </p:nvSpPr>
        <p:spPr>
          <a:xfrm>
            <a:off x="1417320" y="3739896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uma função de busca sequencial que receba um vetor e um valor, e retorne a posição em que o valor foi encontrado (ou -1).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928616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49286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72" dirty="0"/>
          </a:p>
        </p:txBody>
      </p:sp>
      <p:sp>
        <p:nvSpPr>
          <p:cNvPr id="17" name="Text 15"/>
          <p:cNvSpPr/>
          <p:nvPr/>
        </p:nvSpPr>
        <p:spPr>
          <a:xfrm>
            <a:off x="1417320" y="4818888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 o maior e o menor valor de um vetor de temperaturas diárias.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propostos (2/2)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quantas vezes um determinado valor aparece em um vetor.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Inverta os elementos de um vetor sem usar métodos prontos (apenas troca de posições).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52044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funções de inserção e remoção de elementos em uma posição específica de um vetor.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52628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o algoritmo Bubble Sort para ordenar um vetor de números em ordem crescente.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compare, na teoria, o custo de uma busca sequencial em um vetor não ordenado e em um vetor ordenado.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GRONER, Loiane; KINOSHITA, Lucia A. Estruturas de Dados e Algoritmos em JavaScript. São Paulo: Novatec, 2019.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SEBESTA, R. W. Conceitos de Linguagens de Programação. 5ª ed. Bookman, 2003.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IEPSEN, Edecio Fernando. Lógica de Programação e Algoritmos com JavaScript. São Paulo: Novatec, 2019.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MORRISON, Michael. Use a Cabeça JavaScript. Alta Books, 2012.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SILVA, Mauricio Samy. jQuery: a biblioteca do programador JavaScript. São Paulo: Novatec, 2010.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Docs. Guia de JavaScript. developer.mozilla.org/pt-BR/docs/Web/JavaScript/Guide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2541</Words>
  <Application>Microsoft Office PowerPoint</Application>
  <PresentationFormat>Widescreen</PresentationFormat>
  <Paragraphs>526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 Pires</cp:lastModifiedBy>
  <cp:revision>2</cp:revision>
  <dcterms:created xsi:type="dcterms:W3CDTF">2026-08-03T19:57:43Z</dcterms:created>
  <dcterms:modified xsi:type="dcterms:W3CDTF">2026-08-13T18:49:33Z</dcterms:modified>
</cp:coreProperties>
</file>