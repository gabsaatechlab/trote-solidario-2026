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do Software: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estendida até os dias atuais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19456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individual — 1º bimestre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e ampliação da linha do tempo apresentada em aula, incluindo as eras do século XXI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Professora: Débora Pelicano Diniz  •  Disciplina: Engenharia de Software I  •  Uni-FACEF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Recapitulando: as quatro eras vistas em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linha do tempo apresentada na disciplina (DINIZ, 2026), em diálogo com PRESSMAN; MAXIM (2021)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2F2F5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8590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859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iniciais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lote, distribuição limitada, software sob medida.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2F2F5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2054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205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era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1960s–70s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5661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Multiusuário, tempo real, bancos de dados, software como produto.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2F2F5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5518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551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Terceira era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distribuídos, inteligência embarcada, hardware de baixo custo.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2F2F5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989820" y="187452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9898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Quarta era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972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1980s–2000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35661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 potentes, orientação a objetos, sistemas especialistas, redes.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" y="566928"/>
            <a:ext cx="749808" cy="7498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5669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457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5ª Era — Anos 2000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9418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2000–2009  •  Conectividade e agilidade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da internet de banda larga e da conectividade móvel (3G), favorecendo aplicações web e serviços conectados.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2.0: a web se torna mais participativa e colaborativa, com blogs, wikis e redes sociais.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Ágil (2001): 17 profissionais propõem uma abordagem que valoriza colaboração, software funcionando e resposta a mudanças (AGILE ALLIANCE, 2001).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em nuvem ganha força: a AWS lança o S3 e o EC2 em 2006, ampliando o acesso a armazenamento e processamento sob demanda (AWS, 2006).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109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e lojas de aplicativos transformam o desenvolvimento móvel: iPhone (2007) e App Store (2008) ampliam a distribuição de software (APPLE, 2007; 2008).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AGILE ALLIANCE (2001); AMAZON WEB SERVICES (2006); APPLE (2007; 2008) — ver referências.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" y="566928"/>
            <a:ext cx="749808" cy="7498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5669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457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6ª Era — Anos 2010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9418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2010–2019  •  Nuvem, dados, mobilidade e sistemas distribuídos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móvel se consolida: aplicações passam a ser acessadas intensamente por smartphones e serviços conectados.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Data: volume, velocidade e variedade dos dados exigem novas técnicas para armazenamento, processamento e análise (SAS INSTITUTE, [s.d.]).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das Coisas (IoT): sensores e dispositivos conectados ampliam a coleta de dados e a integração entre software e ambiente físico (SAS INSTITUTE, [s.d.]).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 CI/CD aproximam desenvolvimento e operações, favorecendo ciclos menores, novas versões e entrega mais rápida (BRQ, 2024).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109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e orquestração: Docker e Kubernetes facilitam empacotar, distribuir e escalar aplicações de forma padronizada (DOCKER, 2024).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7881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788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71500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Heterogeneidade: sistemas distribuídos integram computadores, dispositivos móveis e sistemas legados, exigindo flexibilidade e interoperabilidade (SOMMERVILLE, 2019).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SAS INSTITUTE ([s.d.]); BRQ (2024); DOCKER (2024); SOMMERVILLE (2019) — ver referências.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" y="566928"/>
            <a:ext cx="749808" cy="7498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5669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457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7ª Era — Anos 2020 e atualidade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9418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2020–2026  •  IA, evolução contínua, segurança e confiança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distribuído: trabalho remoto e equipes distribuídas ampliam o uso de colaboração online e serviços em nuvem.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generativa: o ChatGPT é apresentado publicamente em 30 de novembro de 2022, acelerando a popularização de modelos de linguagem (OPENAI, 2022).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no desenvolvimento: ferramentas como o GitHub Copilot passam a sugerir código e apoiar testes e exploração de APIs (GITHUB, 2021).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entrega contínua: a necessidade de evoluir rapidamente o software se torna cada vez mais central, com ciclos menores e liberações frequentes (DINIZ, 2026).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109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Nuvem, edge e sistemas distribuídos ampliam a capacidade de executar aplicações em diferentes ambientes, dispositivos e infraestruturas.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7881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788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715000"/>
            <a:ext cx="10332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 ganham ainda mais importância: LGPD e outras leis passam a influenciar o tratamento de dados e a confiabilidade dos sistemas (BRASIL, 2018; DINIZ, 2026).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OPENAI (2022); GITHUB (2021); BRASIL (2018); DINIZ (2026) — ver referências.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estendida da Engenharia de Software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até 2026 — eras originais (em azul) + eras incluídas neste trabalho (em dourado)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092708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57784" y="357530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-4572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-137160" y="201168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-82296" y="206654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78964" y="357530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7546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1960s–70s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84020" y="416052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38884" y="421538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1260" y="36576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00144" y="357530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9664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05200" y="201168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60064" y="206654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82440" y="3291840"/>
            <a:ext cx="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21324" y="357530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1782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1980s–2000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26380" y="416052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81244" y="421538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era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03620" y="365760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842504" y="3575304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23900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47560" y="201168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2B70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202424" y="206654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era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agilidade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24800" y="3291840"/>
            <a:ext cx="0" cy="365760"/>
          </a:xfrm>
          <a:prstGeom prst="line">
            <a:avLst/>
          </a:prstGeom>
          <a:noFill/>
          <a:ln w="19050">
            <a:solidFill>
              <a:srgbClr val="F2B705"/>
            </a:solidFill>
            <a:prstDash val="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663684" y="3575304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06018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8740" y="416052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2B70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023604" y="421538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era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Nuvem, dados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mobilidade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45980" y="3657600"/>
            <a:ext cx="0" cy="502920"/>
          </a:xfrm>
          <a:prstGeom prst="line">
            <a:avLst/>
          </a:prstGeom>
          <a:noFill/>
          <a:ln w="19050">
            <a:solidFill>
              <a:srgbClr val="F2B705"/>
            </a:solidFill>
            <a:prstDash val="dash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1484864" y="3575304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88136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2020s–2026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789920" y="201168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2B705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844784" y="2066544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7ª era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567160" y="3291840"/>
            <a:ext cx="0" cy="365760"/>
          </a:xfrm>
          <a:prstGeom prst="line">
            <a:avLst/>
          </a:prstGeom>
          <a:noFill/>
          <a:ln w="19050">
            <a:solidFill>
              <a:srgbClr val="F2B705"/>
            </a:solidFill>
            <a:prstDash val="dash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5806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05840" y="5806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 apresentadas em aula (1950–2000)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0" y="5806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52160" y="5806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 incluídas neste trabalho (2000–2026)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de 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extensão da linha do tempo foi construída?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eras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1950–2000
apresentadas em aula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5196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eras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3484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2000–2026
propostas neste trabalho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1554480"/>
            <a:ext cx="3291840" cy="1920240"/>
          </a:xfrm>
          <a:prstGeom prst="roundRect">
            <a:avLst>
              <a:gd name="adj" fmla="val 4286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63840" y="1783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critério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que afetam
software e seu processo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após 2000 é uma proposta de organização deste trabalho. As três novas eras não são apresentadas como uma classificação oficial da literatura: elas ampliam a linha do tempo da disciplina, agrupando por período as mudanças que mais impactaram o desenvolvimento, a operação, a manutenção e o uso de software. O critério central foi relacionar tecnologia e processo de Engenharia de Software.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de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PRESSMAN, R. S.; MAXIM, B. R. Engenharia de Software: Uma Abordagem Profissional. 9. ed. Porto Alegre: AMGH, 2021.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Engenharia de Software. 10. ed. São Paulo: Pearson Education do Brasil, 2019.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DINIZ, Débora Pelicano. Materiais didáticos de Engenharia de Software I. Uni-FACEF, 2026.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ALLIANCE. Manifesto para Desenvolvimento Ágil de Software. 2001. Disponível em: &lt;https://agilemanifesto.org/iso/ptbr/manifesto.html&gt;. Acesso em: 22 ago. 2026.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Announcing Amazon S3; Amazon EC2. 2006. Disponível em: &lt;https://aws.amazon.com/blogs/aws/amazon_s3/&gt;; &lt;https://aws.amazon.com/blogs/aws/happy-15th-birthday-amazon-ec2/&gt;. Acesso em: 22 ago. 2026.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APPLE. Apple Reinventa Telefone com o iPhone. 2007. Disponível em: &lt;https://www.apple.com/br/newsroom/2007/01/09Apple-Reinvents-the-Phone-with-iPhone/&gt;. Acesso em: 22 ago. 2026.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APPLE. Downloads na App Store alcançam 10 milhões na primeira semana. 2008. Disponível em: &lt;https://www.apple.com/br/newsroom/2008/07/14iPhone-App-Store-Downloads-Top-10-Million-in-First-Weekend/&gt;. Acesso em: 22 ago. 2026.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6263640" y="109728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INSTITUTE. Big Data: o que é e por que importa. [s.d.]. Disponível em: &lt;https://www.sas.com/pt_pt/insights/big-data/what-is-big-data.html&gt;. Acesso em: 22 ago. 2026.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INSTITUTE. Internet das coisas (IoT): o que é e por que é importante. [s.d.]. Disponível em: &lt;https://www.sas.com/pt_pt/insights/big-data/internet-of-things.html&gt;. Acesso em: 22 ago. 2026.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BRQ. DevOps: o que é, desafios, ciclo de vida, ferramentas e métricas. 2024. Disponível em: &lt;https://blog.brq.com/devops/&gt;. Acesso em: 22 ago. 2026.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6263640" y="329184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 10 Years Since Kubernetes Launched at DockerCon. 2024. Disponível em: &lt;https://www.docker.com/blog/10-years-since-kubernetes-launched-at-dockercon/&gt;. Acesso em: 22 ago. 2026.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263640" y="402336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Introducing ChatGPT. 2022. Disponível em: &lt;https://openai.com/index/chatgpt/&gt;. Acesso em: 22 ago. 2026.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6263640" y="475488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Introducing GitHub Copilot: your AI pair programmer. 2021. Disponível em: &lt;https://github.blog/news-insights/product-news/introducing-github-copilot-ai-pair-programmer/&gt;. Acesso em: 22 ago. 2026.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6263640" y="548640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13.709, de 14 de agosto de 2018 (LGPD). Disponível em: &lt;https://www.planalto.gov.br/ccivil_03/_ato2015-2018/2018/lei/l13709compilado.htm&gt;. Acesso em: 22 ago. 2026.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de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Engenharia de Software 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2026-08-22T15:12:45Z</dcterms:created>
  <dcterms:modified xsi:type="dcterms:W3CDTF">2026-08-22T15:12:45Z</dcterms:modified>
</cp:coreProperties>
</file>